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Orbitron"/>
      <p:regular r:id="rId23"/>
      <p:bold r:id="rId24"/>
    </p:embeddedFont>
    <p:embeddedFont>
      <p:font typeface="Orbitron Black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Orbitron-bold.fntdata"/><Relationship Id="rId23" Type="http://schemas.openxmlformats.org/officeDocument/2006/relationships/font" Target="fonts/Orbitro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rbitron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f766e54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af766e540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f766e54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af766e540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af766e54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af766e540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5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9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://drive.google.com/file/d/1L5UOLab_7-ZPt-LHrl3k3WHF8tR01tc7/view" TargetMode="External"/><Relationship Id="rId5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23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8512" y="4944219"/>
            <a:ext cx="551497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81025"/>
            <a:ext cx="1102995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595437" y="1027807"/>
            <a:ext cx="9001125" cy="219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F0FF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ESTRATÉGIA DE DADOS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00F0FF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 BANCO SHIELD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71662" y="3641377"/>
            <a:ext cx="84486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Orbitron"/>
                <a:ea typeface="Orbitron"/>
                <a:cs typeface="Orbitron"/>
                <a:sym typeface="Orbitron"/>
              </a:rPr>
              <a:t>Monitoramento de Mercado e Combate à Hidra: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94A3B8"/>
                </a:solidFill>
                <a:latin typeface="Orbitron"/>
                <a:ea typeface="Orbitron"/>
                <a:cs typeface="Orbitron"/>
                <a:sym typeface="Orbitron"/>
              </a:rPr>
              <a:t> De Dados Brutos à Inteligência Artificial Generativa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38512" y="5334744"/>
            <a:ext cx="5514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Kauã Novaes | </a:t>
            </a:r>
            <a:r>
              <a:rPr b="1" i="0" lang="en-US" sz="1500" u="none" cap="none" strike="noStrike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Engenheiro de Analytics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711636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762000"/>
            <a:ext cx="500062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O CENÁRIO DE </a:t>
            </a:r>
            <a:r>
              <a:rPr b="1" i="0" lang="en-US" sz="3600" u="none" cap="none" strike="noStrike">
                <a:solidFill>
                  <a:srgbClr val="FF2A2A"/>
                </a:solidFill>
                <a:latin typeface="Orbitron"/>
                <a:ea typeface="Orbitron"/>
                <a:cs typeface="Orbitron"/>
                <a:sym typeface="Orbitron"/>
              </a:rPr>
              <a:t>GUERRA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762000"/>
            <a:ext cx="47625" cy="116205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495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 Hidra está avançando silenciosamente e a diretoria não tinha visibilidade real dos riscos.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629025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2A2A"/>
                </a:solidFill>
                <a:latin typeface="Roboto"/>
                <a:ea typeface="Roboto"/>
                <a:cs typeface="Roboto"/>
                <a:sym typeface="Roboto"/>
              </a:rPr>
              <a:t>Dados Inconsistentes: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Baixa confiança nas métricas atuais.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537471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2A2A"/>
                </a:solidFill>
                <a:latin typeface="Roboto"/>
                <a:ea typeface="Roboto"/>
                <a:cs typeface="Roboto"/>
                <a:sym typeface="Roboto"/>
              </a:rPr>
              <a:t>Lentidão: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Falta de respostas rápidas para perguntas complexas.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5445918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2A2A"/>
                </a:solidFill>
                <a:latin typeface="Roboto"/>
                <a:ea typeface="Roboto"/>
                <a:cs typeface="Roboto"/>
                <a:sym typeface="Roboto"/>
              </a:rPr>
              <a:t>Cegueira Tática: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Necessidade urgente de identificar onde atacar e onde defender.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2902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3747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445918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31790"/>
            <a:ext cx="3486150" cy="2918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3131790"/>
            <a:ext cx="3486150" cy="2918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3131790"/>
            <a:ext cx="3486150" cy="29183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254124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"Para garantir que os números sejam 100% confiáveis, reestruturei o pipeline:"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3910" y="416049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D7F32"/>
                </a:solidFill>
                <a:latin typeface="Orbitron"/>
                <a:ea typeface="Orbitron"/>
                <a:cs typeface="Orbitron"/>
                <a:sym typeface="Orbitron"/>
              </a:rPr>
              <a:t>BRONZE LAYER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476056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Ingestão bruta dos dados sem tratamento. A fonte da verdade original.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75810" y="416049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0C0C0"/>
                </a:solidFill>
                <a:latin typeface="Orbitron"/>
                <a:ea typeface="Orbitron"/>
                <a:cs typeface="Orbitron"/>
                <a:sym typeface="Orbitron"/>
              </a:rPr>
              <a:t>SILVER LAYER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8200" y="476056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Limpeza e padronização. Aqui resolvemos o problema de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'Banco S.h.i.e.l.d'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vs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'Shield'</a:t>
            </a: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47710" y="4160490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D700"/>
                </a:solidFill>
                <a:latin typeface="Orbitron"/>
                <a:ea typeface="Orbitron"/>
                <a:cs typeface="Orbitron"/>
                <a:sym typeface="Orbitron"/>
              </a:rPr>
              <a:t>GOLD LAYER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0100" y="4760565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Tabelas agregadas prontas para consumo imediato do Negócio e do Dashboard.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34556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4556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3455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71525" y="581025"/>
            <a:ext cx="11381422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SOLUÇÃO DE ENGENHARIA: </a:t>
            </a:r>
            <a:r>
              <a:rPr b="1" i="0" lang="en-US" sz="36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MEDALLION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581025"/>
            <a:ext cx="47625" cy="116205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1994892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Resumo dos problemas encontrados e mitigados: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521553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"Hoje, temos segurança para tomar decisões baseadas nesses números."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62025" y="2490192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Correção: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Chaves inválidas e duplicidades removidas.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62025" y="3398639"/>
            <a:ext cx="48482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Correção: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Campos nulos em métricas críticas preenchidos.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61975" y="4312085"/>
            <a:ext cx="4848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i="0" lang="en-US" sz="1650" u="none" cap="none" strike="noStrike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ontrole: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Regras automáticas</a:t>
            </a:r>
            <a:r>
              <a:rPr lang="en-US" sz="16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impedem a entrada de dados ruins.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98639"/>
            <a:ext cx="1333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71525" y="581025"/>
            <a:ext cx="11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AUDITORIA E </a:t>
            </a:r>
            <a:r>
              <a:rPr b="1" i="0" lang="en-US" sz="36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QUALIDADE 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81025" y="581025"/>
            <a:ext cx="47625" cy="581025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019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30708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3034" t="13651"/>
          <a:stretch/>
        </p:blipFill>
        <p:spPr>
          <a:xfrm>
            <a:off x="6415288" y="2112012"/>
            <a:ext cx="5162150" cy="35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71525" y="679088"/>
            <a:ext cx="1138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Panorama Executivo: Liderança da Shield sob Ameaça</a:t>
            </a:r>
            <a:endParaRPr sz="300"/>
          </a:p>
        </p:txBody>
      </p:sp>
      <p:sp>
        <p:nvSpPr>
          <p:cNvPr id="149" name="Google Shape;149;p17"/>
          <p:cNvSpPr/>
          <p:nvPr/>
        </p:nvSpPr>
        <p:spPr>
          <a:xfrm>
            <a:off x="581025" y="581025"/>
            <a:ext cx="47625" cy="581025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524" y="1456200"/>
            <a:ext cx="9827125" cy="4304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71425" y="6054925"/>
            <a:ext cx="1219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Apesar de determos 51,9% de Share, a Hidra apresenta crescimento acelerado e consistente nos últimos 6 meses, exigindo ação imediata.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71525" y="679088"/>
            <a:ext cx="1138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Detectando anomalias com filtros</a:t>
            </a:r>
            <a:endParaRPr sz="300"/>
          </a:p>
        </p:txBody>
      </p:sp>
      <p:sp>
        <p:nvSpPr>
          <p:cNvPr id="158" name="Google Shape;158;p18"/>
          <p:cNvSpPr/>
          <p:nvPr/>
        </p:nvSpPr>
        <p:spPr>
          <a:xfrm>
            <a:off x="581025" y="581025"/>
            <a:ext cx="47700" cy="5811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-92450" y="5997725"/>
            <a:ext cx="121920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 produto "Seguro Multiverso" apresenta um crescimento notável na região de Nova York (NY), especificamente na área de atuação da Hidra, após a aplicação de filtros nos dados.</a:t>
            </a:r>
            <a:endParaRPr sz="120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725" y="1390775"/>
            <a:ext cx="9827126" cy="4439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59150"/>
            <a:ext cx="8322750" cy="35353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28725" y="5891525"/>
            <a:ext cx="80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2A2A"/>
                </a:solidFill>
                <a:latin typeface="Roboto"/>
                <a:ea typeface="Roboto"/>
                <a:cs typeface="Roboto"/>
                <a:sym typeface="Roboto"/>
              </a:rPr>
              <a:t>Alerta: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 região Nova York apresenta alto volume da Hidra em Seguro Multiverso.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71525" y="581025"/>
            <a:ext cx="1138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Análise Regional: Fortalezas da Shield vs. Avanço da Hidra</a:t>
            </a:r>
            <a:endParaRPr sz="1800"/>
          </a:p>
        </p:txBody>
      </p:sp>
      <p:sp>
        <p:nvSpPr>
          <p:cNvPr id="169" name="Google Shape;169;p19"/>
          <p:cNvSpPr/>
          <p:nvPr/>
        </p:nvSpPr>
        <p:spPr>
          <a:xfrm>
            <a:off x="581025" y="581025"/>
            <a:ext cx="47700" cy="5811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025" y="1542675"/>
            <a:ext cx="9601176" cy="41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71525" y="988575"/>
            <a:ext cx="1007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Enquanto a Shield mantém hegemonia nas capitais brasileiras (Rio, Salvador, Recife), a Hidra disputa agressivamente praças internacionais e interdimensionais (Xandar, Knowhere)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708900" y="5603175"/>
            <a:ext cx="806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28650" y="5857275"/>
            <a:ext cx="742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71525" y="581025"/>
            <a:ext cx="11381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Matriz de Risco vs. Volume: A Fragilidade do Crescimento da Hidra</a:t>
            </a:r>
            <a:endParaRPr sz="400"/>
          </a:p>
        </p:txBody>
      </p:sp>
      <p:sp>
        <p:nvSpPr>
          <p:cNvPr id="180" name="Google Shape;180;p20"/>
          <p:cNvSpPr/>
          <p:nvPr/>
        </p:nvSpPr>
        <p:spPr>
          <a:xfrm>
            <a:off x="581025" y="581025"/>
            <a:ext cx="47700" cy="82170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35885" t="0"/>
          <a:stretch/>
        </p:blipFill>
        <p:spPr>
          <a:xfrm>
            <a:off x="581025" y="1543025"/>
            <a:ext cx="6919923" cy="44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56350" y="1543025"/>
            <a:ext cx="3486150" cy="23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351625" y="1847115"/>
            <a:ext cx="28956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Identificamos que a Hidra opera quase exclusivamente na "Zona de Perigo" (&gt;10% Risco), adotando uma estratégia agressiva de Subprime, enquanto a Shield mantém uma carteira saudável e conservadora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81025" y="236636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"Dashboards mostram o passado. Para vencer a Hidra, precisamos de agilidade."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962025" y="3499842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961988" y="4077189"/>
            <a:ext cx="4848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Capacidade de descobrir KPIs não mapeados instantaneamente.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61988" y="4985635"/>
            <a:ext cx="4848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A diretoria agora pode conversar com os dados em linguagem natural.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771525" y="581025"/>
            <a:ext cx="11381422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DIFERENCIAL TÁTICO: </a:t>
            </a:r>
            <a:r>
              <a:rPr b="1" i="0" lang="en-US" sz="36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PROJETO J.A.R.V.I.S.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81025" y="581025"/>
            <a:ext cx="47625" cy="116205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9984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988" y="4077189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988" y="498563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05000"/>
            <a:ext cx="5229225" cy="171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81050" y="2247766"/>
            <a:ext cx="48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 User: "Qual o risco n</a:t>
            </a:r>
            <a:r>
              <a:rPr lang="en-US"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 Rio de Janeiro</a:t>
            </a:r>
            <a:r>
              <a:rPr b="0" i="0" lang="en-US" sz="12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?"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781050" y="2643947"/>
            <a:ext cx="48291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Courier New"/>
                <a:ea typeface="Courier New"/>
                <a:cs typeface="Courier New"/>
                <a:sym typeface="Courier New"/>
              </a:rPr>
              <a:t>&gt; SHIELD AI: "</a:t>
            </a:r>
            <a:endParaRPr sz="1200">
              <a:solidFill>
                <a:srgbClr val="00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F0FF"/>
                </a:solidFill>
                <a:latin typeface="Courier New"/>
                <a:ea typeface="Courier New"/>
                <a:cs typeface="Courier New"/>
                <a:sym typeface="Courier New"/>
              </a:rPr>
              <a:t>No Rio de Janeiro, o risk_score médio é de 0.1177, com um total de 416 contratos.</a:t>
            </a:r>
            <a:endParaRPr sz="1200">
              <a:solidFill>
                <a:srgbClr val="00F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/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3075" y="2005000"/>
            <a:ext cx="5497900" cy="365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771525" y="581025"/>
            <a:ext cx="1138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2" title="Gravação de Tela 2025-12-24 às 13.14.04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41278"/>
            <a:ext cx="3486150" cy="383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5500" y="2741275"/>
            <a:ext cx="3486150" cy="383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741278"/>
            <a:ext cx="3486150" cy="383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803910" y="3769965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ATACAR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918750" y="4226644"/>
            <a:ext cx="28107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O produto </a:t>
            </a:r>
            <a:r>
              <a:rPr lang="en-US" sz="1350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Investimento Infinity</a:t>
            </a: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no Brasil destaca-se com o maior volume financiado (R$4.78M). Embora seu risk_score médio (0.106) esteja classificado como Risco Elevado, ele ainda está abaixo do limiar de Risco Crítico (0.12).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575810" y="3769965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DEFENDER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4648200" y="4226640"/>
            <a:ext cx="2895600" cy="22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As áreas que requerem maior atenção e "defesa" são aquelas com os </a:t>
            </a: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risk score</a:t>
            </a: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médios mais elevados. O produto </a:t>
            </a:r>
            <a:r>
              <a:rPr lang="en-US" sz="1350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Investimento Infinity</a:t>
            </a: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em múltiplas regiões, especialmente na Galáxia e Europa, apresenta os maiores riscos.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347710" y="3769965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REDUZIR RISCO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8420100" y="4508215"/>
            <a:ext cx="2895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O </a:t>
            </a:r>
            <a:r>
              <a:rPr lang="en-US" sz="1350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Investimento Infinity</a:t>
            </a:r>
            <a:r>
              <a:rPr lang="en-US" sz="135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na Galáxia, a estratégia deve focar em ajustar os termos das novas concessões.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30651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306511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2150" y="306511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728225" y="900450"/>
            <a:ext cx="1138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OPORTUNIDADES: </a:t>
            </a:r>
            <a:r>
              <a:rPr b="1" i="0" lang="en-US" sz="3400" u="none" cap="none" strike="noStrike">
                <a:solidFill>
                  <a:srgbClr val="00F0FF"/>
                </a:solidFill>
                <a:latin typeface="Orbitron"/>
                <a:ea typeface="Orbitron"/>
                <a:cs typeface="Orbitron"/>
                <a:sym typeface="Orbitron"/>
              </a:rPr>
              <a:t>ATACAR OU DEFENDER?</a:t>
            </a:r>
            <a:endParaRPr sz="1200"/>
          </a:p>
        </p:txBody>
      </p:sp>
      <p:sp>
        <p:nvSpPr>
          <p:cNvPr id="228" name="Google Shape;228;p23"/>
          <p:cNvSpPr/>
          <p:nvPr/>
        </p:nvSpPr>
        <p:spPr>
          <a:xfrm>
            <a:off x="581025" y="581025"/>
            <a:ext cx="47625" cy="116205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1655444" y="1097458"/>
            <a:ext cx="888111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CONCLUSÃO DA MISSÃO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5381625" y="2488108"/>
            <a:ext cx="1428750" cy="381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2538412" y="3116758"/>
            <a:ext cx="7115175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Dados Limpos + Arquitetura Robusta + IA Generativa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=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00F0FF"/>
                </a:solidFill>
                <a:latin typeface="Roboto"/>
                <a:ea typeface="Roboto"/>
                <a:cs typeface="Roboto"/>
                <a:sym typeface="Roboto"/>
              </a:rPr>
              <a:t>Vantagem Competitiva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3819525" y="5265241"/>
            <a:ext cx="4552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"O Banco Shield está pronto para retomar o mercado."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3595687" y="2000250"/>
            <a:ext cx="50006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DÚVIDAS?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686425" y="436245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Obrigado.</a:t>
            </a:r>
            <a:endParaRPr/>
          </a:p>
        </p:txBody>
      </p:sp>
      <p:pic>
        <p:nvPicPr>
          <p:cNvPr descr="image.png"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5962" y="3543300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